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81" r:id="rId8"/>
    <p:sldId id="285" r:id="rId9"/>
    <p:sldId id="282" r:id="rId10"/>
    <p:sldId id="283" r:id="rId11"/>
    <p:sldId id="284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79" r:id="rId22"/>
    <p:sldId id="264" r:id="rId23"/>
    <p:sldId id="265" r:id="rId2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48"/>
  </p:normalViewPr>
  <p:slideViewPr>
    <p:cSldViewPr snapToGrid="0">
      <p:cViewPr varScale="1">
        <p:scale>
          <a:sx n="116" d="100"/>
          <a:sy n="116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07/09/2026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07/09/2026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07/09/2026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07/09/2026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07/09/2026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07/09/2026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07/09/2026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07/09/2026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07/09/2026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07/09/2026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07/09/2026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07/09/2026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cpp/history-of-c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15" y="1041400"/>
            <a:ext cx="10168569" cy="2387600"/>
          </a:xfrm>
        </p:spPr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/>
          </a:bodyPr>
          <a:lstStyle/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What Is a Computer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"Takes input, processes it, gives output.”</a:t>
            </a:r>
          </a:p>
          <a:p>
            <a:r>
              <a:rPr lang="en-GB" i="1" dirty="0"/>
              <a:t>An electronic device that accepts data, processes it per instructions, and produces output, using memory to store data/instructions.</a:t>
            </a:r>
          </a:p>
          <a:p>
            <a:r>
              <a:rPr lang="en-GB" dirty="0"/>
              <a:t>Model: Input → Process → Output</a:t>
            </a:r>
          </a:p>
          <a:p>
            <a:r>
              <a:rPr lang="en-GB" dirty="0"/>
              <a:t>Analogy: A kitchen - ingredients (input), chef following a recipe (process), meal (output).</a:t>
            </a:r>
            <a:br>
              <a:rPr lang="en-GB" dirty="0"/>
            </a:br>
            <a:endParaRPr lang="en-GB" dirty="0"/>
          </a:p>
          <a:p>
            <a:r>
              <a:rPr lang="en-GB" dirty="0"/>
              <a:t>What's the input/process/output of a calculator app?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A1F36-9D77-4A06-DEFD-799ADCE6B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Basic Components of a Computer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661E4-B3B1-F07C-E000-AB9A78B20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60894" cy="4351338"/>
          </a:xfrm>
        </p:spPr>
        <p:txBody>
          <a:bodyPr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CPU - Control Unit (directs operations) + ALU (calculations/comparisons)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RAM - Temporary memory while running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Storage - Permanent (HDD/SSD)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Input devices (keyboard, mouse)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Output devices (monitor, printer)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GB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Why does a file survive a shutdown, but an unsaved calculation doesn't?</a:t>
            </a:r>
          </a:p>
          <a:p>
            <a:endParaRPr lang="en-PK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A98B12B-2D31-BAEE-EC9B-E44F0E573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075" y="1825625"/>
            <a:ext cx="3779592" cy="351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78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5FD7-A3CE-95D4-34E5-DEF2E4D6F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How a Computer Executes a Program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D5038-47F7-EB37-89F8-C95E8066A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Levels: Machine code (binary) → Assembly (MOV, ADD) → High-level language (C++)</a:t>
            </a:r>
          </a:p>
          <a:p>
            <a:r>
              <a:rPr lang="en-GB" dirty="0"/>
              <a:t>Formal: </a:t>
            </a:r>
            <a:r>
              <a:rPr lang="en-GB" i="1" dirty="0"/>
              <a:t>The CPU fetches, decodes, and executes binary instructions (fetch-decode-execute cycle).</a:t>
            </a:r>
          </a:p>
          <a:p>
            <a:r>
              <a:rPr lang="en-GB" dirty="0"/>
              <a:t>Analogy: Speaking through a translator - you speak C++, the "translator" converts it to machine code.</a:t>
            </a:r>
          </a:p>
          <a:p>
            <a:endParaRPr lang="en-GB" dirty="0"/>
          </a:p>
          <a:p>
            <a:r>
              <a:rPr lang="en-GB" dirty="0"/>
              <a:t>Why don't we just write 0s and 1s directly?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4925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B15C1-A2C3-F45F-02A7-EE021B487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What Is Programming?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71454-79A4-3C17-D17D-D0551DEB8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Simple: "Giving a computer step-by-step instructions to solve a problem.”</a:t>
            </a:r>
          </a:p>
          <a:p>
            <a:r>
              <a:rPr lang="en-GB" dirty="0"/>
              <a:t>Formal: </a:t>
            </a:r>
            <a:r>
              <a:rPr lang="en-GB" i="1" dirty="0"/>
              <a:t>The process of designing, writing, testing, and maintaining instructions (a program) a computer can execute.</a:t>
            </a:r>
          </a:p>
          <a:p>
            <a:r>
              <a:rPr lang="en-GB" dirty="0"/>
              <a:t>Analogy: A recipe precise enough that a first-time cook gets it right every time.</a:t>
            </a:r>
          </a:p>
          <a:p>
            <a:endParaRPr lang="en-GB" dirty="0"/>
          </a:p>
          <a:p>
            <a:r>
              <a:rPr lang="en-GB" dirty="0"/>
              <a:t>Explain, step by step, how to tie a shoelace to someone who's never done it.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32839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07DA2-0316-1456-C006-919A4409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What Is a Programming Language?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D1428-7B47-D83A-7FE9-0F90E31B1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Formal: </a:t>
            </a:r>
            <a:r>
              <a:rPr lang="en-GB" i="1" dirty="0"/>
              <a:t>A formal set of syntax/semantic rules for writing programs translatable into machine instructions.</a:t>
            </a:r>
          </a:p>
          <a:p>
            <a:r>
              <a:rPr lang="en-GB" dirty="0"/>
              <a:t>Categories: Low-level (Assembly, machine code) vs. High-level (C++, Python, Java)</a:t>
            </a:r>
          </a:p>
          <a:p>
            <a:r>
              <a:rPr lang="en-GB" dirty="0"/>
              <a:t>Why C++: teaches core logic - variables, control flow, functions, memory - that transfers to any language later.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4972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8AEC37-3F50-58EF-9EAB-A65C5AB0A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0369740"/>
              </p:ext>
            </p:extLst>
          </p:nvPr>
        </p:nvGraphicFramePr>
        <p:xfrm>
          <a:off x="449856" y="795970"/>
          <a:ext cx="11292288" cy="52660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14832">
                  <a:extLst>
                    <a:ext uri="{9D8B030D-6E8A-4147-A177-3AD203B41FA5}">
                      <a16:colId xmlns:a16="http://schemas.microsoft.com/office/drawing/2014/main" val="2538533969"/>
                    </a:ext>
                  </a:extLst>
                </a:gridCol>
                <a:gridCol w="3159152">
                  <a:extLst>
                    <a:ext uri="{9D8B030D-6E8A-4147-A177-3AD203B41FA5}">
                      <a16:colId xmlns:a16="http://schemas.microsoft.com/office/drawing/2014/main" val="2330573924"/>
                    </a:ext>
                  </a:extLst>
                </a:gridCol>
                <a:gridCol w="3159152">
                  <a:extLst>
                    <a:ext uri="{9D8B030D-6E8A-4147-A177-3AD203B41FA5}">
                      <a16:colId xmlns:a16="http://schemas.microsoft.com/office/drawing/2014/main" val="616129309"/>
                    </a:ext>
                  </a:extLst>
                </a:gridCol>
                <a:gridCol w="3159152">
                  <a:extLst>
                    <a:ext uri="{9D8B030D-6E8A-4147-A177-3AD203B41FA5}">
                      <a16:colId xmlns:a16="http://schemas.microsoft.com/office/drawing/2014/main" val="2241483148"/>
                    </a:ext>
                  </a:extLst>
                </a:gridCol>
              </a:tblGrid>
              <a:tr h="5127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PK" sz="2400" b="1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  <a:endParaRPr lang="en-PK" sz="2400" b="1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Scripting Language</a:t>
                      </a:r>
                      <a:endParaRPr lang="en-PK" sz="2400" b="1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Markup Language</a:t>
                      </a:r>
                      <a:endParaRPr lang="en-PK" sz="2400" b="1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7719436"/>
                  </a:ext>
                </a:extLst>
              </a:tr>
              <a:tr h="10601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Purpose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Creating full-scale, standalone applications and systems from scratch.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Automating tasks, connecting software, or adding interactivity.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Structuring, organizing, and formatting content/text.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05157061"/>
                  </a:ext>
                </a:extLst>
              </a:tr>
              <a:tr h="10601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it Executes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compiled into machine code before running.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interpreted line-by-line during runtime.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and rendered directly by a browser or processor.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9317062"/>
                  </a:ext>
                </a:extLst>
              </a:tr>
              <a:tr h="10601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 &amp; Math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support for complex algorithms, data structures, and logic.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programming logic, loops, and conditional statements.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programming logic, math capabilities, or variables.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83714153"/>
                  </a:ext>
                </a:extLst>
              </a:tr>
              <a:tr h="10601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independently as a standalone program.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Often runs inside a “host” environment or another program.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a parser or browser to display the data.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0689993"/>
                  </a:ext>
                </a:extLst>
              </a:tr>
              <a:tr h="5127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C++, Java, Rust, Go.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JavaScript, Python, Bash, PHP.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HTML, XML, Markdown.</a:t>
                      </a:r>
                      <a:endParaRPr lang="en-PK" sz="2400" b="0" i="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3078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085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5791-B1CF-1CB3-5019-056A827E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/>
              <a:t>What is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EA96E-DC26-578D-1C46-90EE4E285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https://www.geeksforgeeks.org/cpp/history-of-c/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59859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CC7D-2566-BD7F-05E3-53BE41AA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What Is an IDE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EEDB5-D69A-82B8-18B3-6AB29F671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rtl="0"/>
            <a:r>
              <a:rPr lang="en-GB" dirty="0"/>
              <a:t>Simple: "An IDE is a single program that gives you everything you need to write, compile, and run code - instead of using separate tools for each step."</a:t>
            </a:r>
          </a:p>
          <a:p>
            <a:pPr rtl="0"/>
            <a:r>
              <a:rPr lang="en-GB" i="1" dirty="0"/>
              <a:t>An Integrated Development Environment (IDE) is a software application that combines a code editor, compiler/interpreter, and debugger into one unified interface, streamlining the process of writing, building, and testing programs.</a:t>
            </a:r>
            <a:endParaRPr lang="en-GB" dirty="0"/>
          </a:p>
          <a:p>
            <a:pPr rtl="0"/>
            <a:r>
              <a:rPr lang="en-GB" dirty="0"/>
              <a:t>Core components of an IDE: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Code Editor - where you type source code (with syntax highlighting, auto-indent, line numbers)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Compiler (integrated) - Dev C++ uses GNU G++ under the hood to translate your .</a:t>
            </a:r>
            <a:r>
              <a:rPr lang="en-GB" dirty="0" err="1"/>
              <a:t>cpp</a:t>
            </a:r>
            <a:r>
              <a:rPr lang="en-GB" dirty="0"/>
              <a:t> file into an executable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Debugger - lets you pause execution, inspect variable values, and step through code line by line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Build/Run controls - one-click Compile and Run buttons instead of typing terminal commands manually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5228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EF991-4FFD-939D-60B8-762E2FD9A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/>
              <a:t>Dev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DFD18-8A39-BDC5-EFFB-0BDF63EEB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Free, lightweight, and beginner-friendly - minimal setup overhead</a:t>
            </a:r>
          </a:p>
          <a:p>
            <a:r>
              <a:rPr lang="en-GB" dirty="0"/>
              <a:t>Comes bundled with the GNU G++ compiler (no separate compiler installation needed) </a:t>
            </a:r>
          </a:p>
          <a:p>
            <a:r>
              <a:rPr lang="en-GB" dirty="0"/>
              <a:t>Simple menu structure: Execute → Compile, Execute → Run </a:t>
            </a:r>
          </a:p>
          <a:p>
            <a:r>
              <a:rPr lang="en-GB" dirty="0"/>
              <a:t>Clear, readable compiler error messages in a dedicated output pane - good for learning to debug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60073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1BB2-2F8B-21A6-3230-3155E435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/>
              <a:t>Dev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0F13C-C066-BFF4-8C40-D581424C7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b="1" dirty="0"/>
              <a:t>Real-world analogy:</a:t>
            </a:r>
            <a:r>
              <a:rPr lang="en-GB" dirty="0"/>
              <a:t> Think of an IDE like a fully equipped workshop - instead of walking to different rooms for a workbench (editor), tools (compiler), and a inspection table (debugger), everything is in one room, ready to use.</a:t>
            </a:r>
          </a:p>
          <a:p>
            <a:pPr rtl="0"/>
            <a:r>
              <a:rPr lang="en-GB" dirty="0"/>
              <a:t>Without an IDE (the manual alternative, for awareness):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Write code in any plain text editor (e.g., Notepad)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Open a terminal/command prompt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Compile manually: g++ </a:t>
            </a:r>
            <a:r>
              <a:rPr lang="en-GB" dirty="0" err="1"/>
              <a:t>filename.cpp</a:t>
            </a:r>
            <a:r>
              <a:rPr lang="en-GB" dirty="0"/>
              <a:t> -o filename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Run manually: </a:t>
            </a:r>
            <a:r>
              <a:rPr lang="en-GB" dirty="0" err="1"/>
              <a:t>filename.exe</a:t>
            </a:r>
            <a:r>
              <a:rPr lang="en-GB" dirty="0"/>
              <a:t> (Windows) / ./filename (Linux/Mac)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45048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674B8-CC5E-9531-D18B-69997B349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Source Code, Compiler, Executable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294B6-33C9-61B6-7806-73034E3A5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Source code (.</a:t>
            </a:r>
            <a:r>
              <a:rPr lang="en-GB" dirty="0" err="1"/>
              <a:t>cpp</a:t>
            </a:r>
            <a:r>
              <a:rPr lang="en-GB" dirty="0"/>
              <a:t>, human-readable) → Compiler (G++) translates + checks errors → Executable (.exe) runs.</a:t>
            </a:r>
          </a:p>
          <a:p>
            <a:r>
              <a:rPr lang="en-GB" dirty="0"/>
              <a:t>Flow: Source Code → Compile → Executable → Run → Output</a:t>
            </a:r>
          </a:p>
          <a:p>
            <a:r>
              <a:rPr lang="en-GB" dirty="0"/>
              <a:t>Analogy: Writing a letter in English, translating it to French, then the French reader can act on it.</a:t>
            </a:r>
            <a:br>
              <a:rPr lang="en-GB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9877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B00E-1D37-356D-57AC-A1C4A895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Compiler vs. Interpreter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D614A-15A9-C7E2-50D7-7D8B707D5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Compiler - translates the whole program before running (C++/G++).</a:t>
            </a:r>
          </a:p>
          <a:p>
            <a:r>
              <a:rPr lang="en-GB" dirty="0"/>
              <a:t>Interpreter - translates line-by-line while running (e.g., Python).</a:t>
            </a:r>
          </a:p>
          <a:p>
            <a:r>
              <a:rPr lang="en-GB" dirty="0"/>
              <a:t>Key point: C++ must compile successfully before it can ever run.</a:t>
            </a:r>
            <a:br>
              <a:rPr lang="en-GB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28200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AE026-44C4-9537-4C03-7220CC60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Syntax vs. Semantics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2494A-9FD5-D6D8-FC41-761CDBD38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dirty="0"/>
              <a:t>Content: Syntax = grammar rules; Semantics = meaning.</a:t>
            </a:r>
          </a:p>
          <a:p>
            <a:r>
              <a:rPr lang="en-GB" dirty="0">
                <a:effectLst/>
              </a:rPr>
              <a:t>int</a:t>
            </a:r>
            <a:r>
              <a:rPr lang="en-GB" dirty="0"/>
              <a:t> x = </a:t>
            </a:r>
            <a:r>
              <a:rPr lang="en-GB" dirty="0">
                <a:effectLst/>
              </a:rPr>
              <a:t>5 // missing semicolon → syntax error</a:t>
            </a:r>
            <a:r>
              <a:rPr lang="en-GB" dirty="0"/>
              <a:t> </a:t>
            </a:r>
          </a:p>
          <a:p>
            <a:r>
              <a:rPr lang="en-GB" dirty="0">
                <a:effectLst/>
              </a:rPr>
              <a:t>int</a:t>
            </a:r>
            <a:r>
              <a:rPr lang="en-GB" dirty="0"/>
              <a:t> x = </a:t>
            </a:r>
            <a:r>
              <a:rPr lang="en-GB" dirty="0">
                <a:effectLst/>
              </a:rPr>
              <a:t>"five" // wrong data type → semantic/logic issue</a:t>
            </a:r>
            <a:endParaRPr lang="en-GB" dirty="0"/>
          </a:p>
          <a:p>
            <a:pPr rtl="0"/>
            <a:r>
              <a:rPr lang="en-GB" dirty="0"/>
              <a:t>Analogy: "I eated the apple" (broken grammar) vs. "I ate the moon" (grammatically fine, meaningless).</a:t>
            </a:r>
          </a:p>
          <a:p>
            <a:pPr rtl="0"/>
            <a:endParaRPr lang="en-GB" dirty="0"/>
          </a:p>
          <a:p>
            <a:pPr rtl="0"/>
            <a:r>
              <a:rPr lang="en-GB" dirty="0"/>
              <a:t>Discussion question: "Which is harder to catch - a missing semicolon, or a program that runs but gives the wrong answer?"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03230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6A18-D3CE-327D-7E14-D9606461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Algorithms: Thinking Before Coding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47E2B-3B18-4089-BE04-C2D61210A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rtl="0"/>
            <a:r>
              <a:rPr lang="en-GB" b="1" dirty="0"/>
              <a:t>Formal:</a:t>
            </a:r>
            <a:r>
              <a:rPr lang="en-GB" dirty="0"/>
              <a:t> </a:t>
            </a:r>
            <a:r>
              <a:rPr lang="en-GB" i="1" dirty="0"/>
              <a:t>A finite, ordered sequence of well-defined steps that solves a problem.</a:t>
            </a:r>
          </a:p>
          <a:p>
            <a:pPr rtl="0"/>
            <a:r>
              <a:rPr lang="en-GB" dirty="0"/>
              <a:t>Example - largest of 3 numbers: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Input three numbers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Compare first two, keep the larger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Compare that result with the third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Display the largest</a:t>
            </a:r>
          </a:p>
          <a:p>
            <a:r>
              <a:rPr lang="en-GB" b="1" dirty="0"/>
              <a:t>Analogy:</a:t>
            </a:r>
            <a:r>
              <a:rPr lang="en-GB" dirty="0"/>
              <a:t> Planning a road-trip route before driving.</a:t>
            </a:r>
          </a:p>
          <a:p>
            <a:endParaRPr lang="en-GB" b="1" dirty="0"/>
          </a:p>
          <a:p>
            <a:r>
              <a:rPr lang="en-GB" b="1" dirty="0"/>
              <a:t>Discussion question:</a:t>
            </a:r>
            <a:r>
              <a:rPr lang="en-GB" dirty="0"/>
              <a:t> "Write your own algorithm to find the smallest of 3 numbers."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60160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E7F0-589B-A080-5601-4F060BF08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Flowcharts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B1283-A927-134B-47C4-43A04E66F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54966" cy="4351338"/>
          </a:xfrm>
        </p:spPr>
        <p:txBody>
          <a:bodyPr/>
          <a:lstStyle/>
          <a:p>
            <a:pPr rtl="0"/>
            <a:r>
              <a:rPr lang="en-GB" b="1" dirty="0"/>
              <a:t> Content: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Oval = Start/End, </a:t>
            </a:r>
          </a:p>
          <a:p>
            <a:pPr lvl="1"/>
            <a:r>
              <a:rPr lang="en-GB" dirty="0"/>
              <a:t>Rectangle = Process, </a:t>
            </a:r>
          </a:p>
          <a:p>
            <a:pPr lvl="1"/>
            <a:r>
              <a:rPr lang="en-GB" dirty="0"/>
              <a:t>Diamond = Decision, </a:t>
            </a:r>
          </a:p>
          <a:p>
            <a:pPr lvl="1"/>
            <a:r>
              <a:rPr lang="en-GB" dirty="0"/>
              <a:t>Arrow = Flow</a:t>
            </a:r>
          </a:p>
          <a:p>
            <a:pPr rtl="0"/>
            <a:endParaRPr lang="en-GB" b="1" dirty="0"/>
          </a:p>
          <a:p>
            <a:pPr rtl="0"/>
            <a:r>
              <a:rPr lang="en-GB" dirty="0"/>
              <a:t>What do you think a diamond shape represents in a flowchart?</a:t>
            </a:r>
          </a:p>
          <a:p>
            <a:endParaRPr lang="en-PK" dirty="0"/>
          </a:p>
        </p:txBody>
      </p:sp>
      <p:pic>
        <p:nvPicPr>
          <p:cNvPr id="3076" name="Picture 4" descr="Flow chart - Wikimedia Commons">
            <a:extLst>
              <a:ext uri="{FF2B5EF4-FFF2-40B4-BE49-F238E27FC236}">
                <a16:creationId xmlns:a16="http://schemas.microsoft.com/office/drawing/2014/main" id="{70A2B89E-80D0-71CB-ED31-4A9C45286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166" y="601663"/>
            <a:ext cx="3175000" cy="557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478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8303-CD86-02F9-B54C-2CE2A2035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Pseudocode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FE384-D585-5385-01BE-F1E65AD29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START </a:t>
            </a:r>
          </a:p>
          <a:p>
            <a:r>
              <a:rPr lang="en-GB" dirty="0"/>
              <a:t>INPUT a, b, c </a:t>
            </a:r>
          </a:p>
          <a:p>
            <a:r>
              <a:rPr lang="en-GB" dirty="0"/>
              <a:t>IF a &gt; b AND a &gt; c </a:t>
            </a:r>
          </a:p>
          <a:p>
            <a:pPr lvl="1"/>
            <a:r>
              <a:rPr lang="en-GB" dirty="0"/>
              <a:t>THEN largest = a </a:t>
            </a:r>
          </a:p>
          <a:p>
            <a:r>
              <a:rPr lang="en-GB" dirty="0"/>
              <a:t>ELSE IF b &gt; c </a:t>
            </a:r>
          </a:p>
          <a:p>
            <a:pPr lvl="1"/>
            <a:r>
              <a:rPr lang="en-GB" dirty="0"/>
              <a:t>THEN largest = b </a:t>
            </a:r>
          </a:p>
          <a:p>
            <a:r>
              <a:rPr lang="en-GB" dirty="0"/>
              <a:t>ELSE </a:t>
            </a:r>
          </a:p>
          <a:p>
            <a:r>
              <a:rPr lang="en-GB" dirty="0"/>
              <a:t>largest = c </a:t>
            </a:r>
          </a:p>
          <a:p>
            <a:r>
              <a:rPr lang="en-GB" dirty="0"/>
              <a:t>PRINT largest </a:t>
            </a:r>
          </a:p>
          <a:p>
            <a:r>
              <a:rPr lang="en-GB" dirty="0"/>
              <a:t>END</a:t>
            </a:r>
          </a:p>
          <a:p>
            <a:pPr rtl="0"/>
            <a:r>
              <a:rPr lang="en-GB" b="1" dirty="0"/>
              <a:t>Discussion question:</a:t>
            </a:r>
            <a:r>
              <a:rPr lang="en-GB" dirty="0"/>
              <a:t> "Convert your Slide 11 algorithm into pseudocode."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3358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FEB8-BC08-F1B1-1E62-1E67BE317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Your First C++ Program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26F23-FDF5-0FE3-85A5-D338CB55C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#include &lt;iostream&gt; </a:t>
            </a:r>
          </a:p>
          <a:p>
            <a:r>
              <a:rPr lang="en-GB" dirty="0"/>
              <a:t>using namespace std; </a:t>
            </a:r>
          </a:p>
          <a:p>
            <a:r>
              <a:rPr lang="en-GB" dirty="0"/>
              <a:t>int main() </a:t>
            </a:r>
          </a:p>
          <a:p>
            <a:r>
              <a:rPr lang="en-GB" dirty="0"/>
              <a:t>{ </a:t>
            </a:r>
          </a:p>
          <a:p>
            <a:r>
              <a:rPr lang="en-GB" dirty="0" err="1"/>
              <a:t>cout</a:t>
            </a:r>
            <a:r>
              <a:rPr lang="en-GB" dirty="0"/>
              <a:t> &lt;&lt; "Hello, World!" &lt;&lt; </a:t>
            </a:r>
            <a:r>
              <a:rPr lang="en-GB" dirty="0" err="1"/>
              <a:t>endl</a:t>
            </a:r>
            <a:r>
              <a:rPr lang="en-GB" dirty="0"/>
              <a:t>; </a:t>
            </a:r>
          </a:p>
          <a:p>
            <a:r>
              <a:rPr lang="en-GB" dirty="0"/>
              <a:t>return 0; </a:t>
            </a:r>
          </a:p>
          <a:p>
            <a:r>
              <a:rPr lang="en-GB" dirty="0"/>
              <a:t>}</a:t>
            </a:r>
          </a:p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3738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4BAD2-9E73-54E4-49EA-737AE4AB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i="1" dirty="0"/>
              <a:t>Common Programming Errors (First Exposure)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9EDB-83D4-A779-80F1-E13D504B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b="1" dirty="0"/>
              <a:t>Syntax error</a:t>
            </a:r>
            <a:r>
              <a:rPr lang="en-GB" dirty="0"/>
              <a:t> (breaks language rules, compiler catches it)</a:t>
            </a:r>
          </a:p>
          <a:p>
            <a:pPr rtl="0"/>
            <a:r>
              <a:rPr lang="en-GB" b="1" dirty="0"/>
              <a:t>Runtime error</a:t>
            </a:r>
            <a:r>
              <a:rPr lang="en-GB" dirty="0"/>
              <a:t> (crashes while running, e.g., divide by zero)</a:t>
            </a:r>
          </a:p>
          <a:p>
            <a:pPr rtl="0"/>
            <a:r>
              <a:rPr lang="en-GB" b="1" dirty="0"/>
              <a:t>Logical error</a:t>
            </a:r>
            <a:r>
              <a:rPr lang="en-GB" dirty="0"/>
              <a:t> (runs fine, wrong answer)</a:t>
            </a:r>
          </a:p>
          <a:p>
            <a:pPr rtl="0"/>
            <a:endParaRPr lang="en-GB" b="1" dirty="0"/>
          </a:p>
          <a:p>
            <a:pPr rtl="0"/>
            <a:r>
              <a:rPr lang="en-GB" b="1" dirty="0"/>
              <a:t>Discussion question:</a:t>
            </a:r>
            <a:r>
              <a:rPr lang="en-GB" dirty="0"/>
              <a:t> "Does compiling and running without crashing guarantee the program is correct?"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33703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8E9A-667E-13BC-7AF8-EF63AA2FC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Why Learn Programming?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13815-A621-8779-B073-22865F099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b="1" dirty="0"/>
              <a:t>Content:</a:t>
            </a:r>
            <a:r>
              <a:rPr lang="en-GB" dirty="0"/>
              <a:t> Software development, automation, data analysis/AI, general problem-solving skill, high career demand.</a:t>
            </a:r>
            <a:br>
              <a:rPr lang="en-GB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95565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E046-6FDB-1929-B040-7AA82240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Setting Up: Dev C++ / G++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0D710-4B30-348A-3D3E-A18E23397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+mj-lt"/>
              <a:buAutoNum type="arabicPeriod"/>
            </a:pPr>
            <a:r>
              <a:rPr lang="en-GB" dirty="0"/>
              <a:t>Open Dev C++ → New source file → save as </a:t>
            </a:r>
            <a:r>
              <a:rPr lang="en-GB" dirty="0" err="1"/>
              <a:t>filename.cpp</a:t>
            </a:r>
            <a:endParaRPr lang="en-GB" dirty="0"/>
          </a:p>
          <a:p>
            <a:pPr rtl="0">
              <a:buFont typeface="+mj-lt"/>
              <a:buAutoNum type="arabicPeriod"/>
            </a:pPr>
            <a:r>
              <a:rPr lang="en-GB" dirty="0"/>
              <a:t>Write code</a:t>
            </a:r>
          </a:p>
          <a:p>
            <a:pPr rtl="0">
              <a:buFont typeface="+mj-lt"/>
              <a:buAutoNum type="arabicPeriod"/>
            </a:pPr>
            <a:r>
              <a:rPr lang="en-GB" dirty="0"/>
              <a:t>Compile: Execute → Compile (or g++ </a:t>
            </a:r>
            <a:r>
              <a:rPr lang="en-GB" dirty="0" err="1"/>
              <a:t>filename.cpp</a:t>
            </a:r>
            <a:r>
              <a:rPr lang="en-GB" dirty="0"/>
              <a:t> -o filename)</a:t>
            </a:r>
          </a:p>
          <a:p>
            <a:pPr rtl="0">
              <a:buFont typeface="+mj-lt"/>
              <a:buAutoNum type="arabicPeriod"/>
            </a:pPr>
            <a:r>
              <a:rPr lang="en-GB" dirty="0"/>
              <a:t>Run: Execute → Run (or ./filename)</a:t>
            </a:r>
          </a:p>
          <a:p>
            <a:pPr rtl="0">
              <a:buFont typeface="+mj-lt"/>
              <a:buAutoNum type="arabicPeriod"/>
            </a:pPr>
            <a:r>
              <a:rPr lang="en-GB" dirty="0"/>
              <a:t>View output in console.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83113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1393</Words>
  <Application>Microsoft Macintosh PowerPoint</Application>
  <PresentationFormat>Widescreen</PresentationFormat>
  <Paragraphs>149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Times New Roman</vt:lpstr>
      <vt:lpstr>Office Theme</vt:lpstr>
      <vt:lpstr>Programming Fundamentals</vt:lpstr>
      <vt:lpstr>What Is a Computer</vt:lpstr>
      <vt:lpstr>Basic Components of a Computer</vt:lpstr>
      <vt:lpstr>How a Computer Executes a Program</vt:lpstr>
      <vt:lpstr>What Is Programming?</vt:lpstr>
      <vt:lpstr>What Is a Programming Language?</vt:lpstr>
      <vt:lpstr>PowerPoint Presentation</vt:lpstr>
      <vt:lpstr>What is C++</vt:lpstr>
      <vt:lpstr>What Is an IDE</vt:lpstr>
      <vt:lpstr>Dev C++</vt:lpstr>
      <vt:lpstr>Dev C++</vt:lpstr>
      <vt:lpstr>Source Code, Compiler, Executable</vt:lpstr>
      <vt:lpstr>Compiler vs. Interpreter</vt:lpstr>
      <vt:lpstr>Syntax vs. Semantics</vt:lpstr>
      <vt:lpstr>Algorithms: Thinking Before Coding</vt:lpstr>
      <vt:lpstr>Flowcharts</vt:lpstr>
      <vt:lpstr>Pseudocode</vt:lpstr>
      <vt:lpstr>Your First C++ Program</vt:lpstr>
      <vt:lpstr>Common Programming Errors (First Exposure)</vt:lpstr>
      <vt:lpstr>Why Learn Programming?</vt:lpstr>
      <vt:lpstr>Setting Up: Dev C++ / G++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7</cp:revision>
  <dcterms:created xsi:type="dcterms:W3CDTF">2026-07-17T16:00:13Z</dcterms:created>
  <dcterms:modified xsi:type="dcterms:W3CDTF">2026-09-07T14:34:27Z</dcterms:modified>
</cp:coreProperties>
</file>