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6" r:id="rId3"/>
    <p:sldId id="267" r:id="rId4"/>
    <p:sldId id="268" r:id="rId5"/>
    <p:sldId id="269" r:id="rId6"/>
    <p:sldId id="270" r:id="rId7"/>
    <p:sldId id="272" r:id="rId8"/>
    <p:sldId id="273" r:id="rId9"/>
    <p:sldId id="274" r:id="rId10"/>
    <p:sldId id="275" r:id="rId11"/>
    <p:sldId id="271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64" r:id="rId20"/>
    <p:sldId id="265" r:id="rId21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7"/>
    <p:restoredTop sz="94648"/>
  </p:normalViewPr>
  <p:slideViewPr>
    <p:cSldViewPr snapToGrid="0">
      <p:cViewPr varScale="1">
        <p:scale>
          <a:sx n="116" d="100"/>
          <a:sy n="116" d="100"/>
        </p:scale>
        <p:origin x="208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C74A6-3486-CEBB-7B3C-A0D8D74043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E2772E-6BF2-07BC-A123-1E14A7A57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908D5-1EBC-B314-CD17-F710D36C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12/09/2026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C1FCA-FC01-1A25-F163-3AE086E89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511B0-D414-AFE8-55F9-DD3D99199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22298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DD55C-0889-7BF1-ED09-068AD543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2D896-E10B-B7DA-8ED6-A75CF9E33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63BA5-FD8D-7D66-3FF9-FC52F8B17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12/09/2026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E0EE3-12C2-E477-B55C-F3522575A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BE645-FF5D-28AE-9C60-D8CE6D577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02468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E2605-1099-8D96-42AC-BAF5114A6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0EFE4-8D9A-AAC5-51AF-5AEFD3E60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EEDB1-408E-81B1-DCDD-47CFBAB08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12/09/2026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65684-6FAB-EB39-B4B3-32F2CF97E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4839F-A15C-B52F-C060-1F4E2F96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02435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F677E-443C-1372-4DA2-82BF5FB5E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8DC6B-0882-D1AA-9067-00DA923118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46EEF1-350D-8169-B11C-B4526887B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66A852-0831-3634-88FE-D168ADA64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12/09/2026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17E0B-CF33-066A-F303-DCE850885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B428FC-579B-7136-C517-60FD74B5C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67284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CA0E-D9E9-2832-EA04-50415929C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34A9D-4197-DD71-1593-D5FC646B0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D7CB1-5DFD-F1C0-280A-408A3D396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007FEA-87B8-E257-D937-B8DD1FD91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C0A731-F7AE-6170-556C-FC33E4A82C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85A504-606E-38AE-AD4A-02E21F4DC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12/09/2026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258D57-22D0-48D2-A0B0-52CD18AF8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28C1C7-D1FC-BD99-195D-46EBC997F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02815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3333C-9180-7F02-0975-EB604602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2BC407-B6A0-2C6C-9861-617ED3381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12/09/2026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AA43D5-908E-A819-B4D6-71231101A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767765-88B4-53BE-FB18-1BA002D64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09075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A2C2FE-9C39-2697-967E-79D60C4FB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12/09/2026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36E2B1-F99A-CA39-AB3D-774523DAA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93E33-02D7-77E5-4A05-0EFC58D19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94303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92E82-C82F-DA1C-B68A-52024C235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B2E36-2BF7-C552-BF94-A246C81F3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C6278C-8DE4-60A1-C942-C52178EDD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206CD0-D943-4F68-B733-850CD7B22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12/09/2026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730A8-BED5-6566-8938-0191AA838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47DB4-9666-D112-8BE7-0487D50F0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80466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E47B1-2162-ADFD-AD1D-91A137326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C2F9E4-651F-4ABE-2B05-CDC5BFA71B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42846-B684-CBCC-0518-34138420A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3F6B4-9E15-1580-F8E9-4B7EAD334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12/09/2026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02D62-B57E-02D4-39B8-57B08AB11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195C1-F4B4-138C-FE72-3884CA32A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67051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3BD72-38C5-DFA2-28CA-2A01DE383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AFEFBE-1C46-DE61-DD8D-ACA049D260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51CFE-92D2-E19C-8773-180B6526C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12/09/2026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A9927-B32F-ADF3-B1DE-C032493E5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672E8-EFD5-878D-EAC8-C2EA47A5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69333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28F3B9-E62D-DD81-AA7F-31DDBA2B6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4307DB-8D97-992C-1DA3-1A7BA616C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4DC32-2782-6B94-F2E0-678477737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12/09/2026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FB17B-ECC4-2725-0442-DE14676FB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395DC-CFE8-5C81-E504-01691928F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58608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6E4CF7-BC1E-6FB6-5522-2AC188A6D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8B65F-F070-67BC-E9A0-38B45928C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E9B9C-174B-870D-D462-5902FDFC6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38EF3D54-E75F-4C46-B59C-5FBC42FC52BD}" type="datetimeFigureOut">
              <a:rPr lang="en-PK" smtClean="0"/>
              <a:pPr/>
              <a:t>12/09/2026</a:t>
            </a:fld>
            <a:endParaRPr lang="en-P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37645-3BCE-0FDA-61B8-FD168DBE02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C82DE-6318-99DF-B090-F4FB4FF4FB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ADB765D4-72FA-AA48-A287-0E865C8234E9}" type="slidenum">
              <a:rPr lang="en-PK" smtClean="0"/>
              <a:pPr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7264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leHclpR6CA8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EA65-A08C-0C4C-54E9-A686CB423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715" y="1041400"/>
            <a:ext cx="10168569" cy="2387600"/>
          </a:xfrm>
        </p:spPr>
        <p:txBody>
          <a:bodyPr/>
          <a:lstStyle/>
          <a:p>
            <a:r>
              <a:rPr lang="en-PK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Fundamentals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464B5B-AB60-D6AB-2E5B-1A3A46311A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7463"/>
            <a:ext cx="9144000" cy="1655762"/>
          </a:xfrm>
        </p:spPr>
        <p:txBody>
          <a:bodyPr>
            <a:normAutofit/>
          </a:bodyPr>
          <a:lstStyle/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Ali Haider</a:t>
            </a:r>
          </a:p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CS &amp; IT</a:t>
            </a:r>
          </a:p>
          <a:p>
            <a:r>
              <a:rPr lang="en-PK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Management Sciences, Peshawar, Pakistan</a:t>
            </a:r>
          </a:p>
        </p:txBody>
      </p:sp>
    </p:spTree>
    <p:extLst>
      <p:ext uri="{BB962C8B-B14F-4D97-AF65-F5344CB8AC3E}">
        <p14:creationId xmlns:p14="http://schemas.microsoft.com/office/powerpoint/2010/main" val="3116823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C3DCD-C6C5-54A4-C574-7132D7C8F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Installation of Dev 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8B589-924F-9B4D-7984-DD4631732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https://youtu.be/leHclpR6CA8</a:t>
            </a:r>
            <a:endParaRPr lang="en-GB" dirty="0"/>
          </a:p>
          <a:p>
            <a:r>
              <a:rPr lang="en-GB" dirty="0"/>
              <a:t>Practical Installation in the class.</a:t>
            </a:r>
          </a:p>
          <a:p>
            <a:r>
              <a:rPr lang="en-GB" dirty="0"/>
              <a:t>Launch Dev C++ - it should auto-detect the bundled G++ compiler (visible under Tools → Compiler Options)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614490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D740E-A26D-7823-EB9C-CC68C93BC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Anatomy of First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7B771-6010-21FC-FB46-F62F7D6D9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#include &lt;iostream&gt;</a:t>
            </a:r>
          </a:p>
          <a:p>
            <a:r>
              <a:rPr lang="en-GB" dirty="0"/>
              <a:t>using namespace std;</a:t>
            </a:r>
          </a:p>
          <a:p>
            <a:endParaRPr lang="en-GB" dirty="0"/>
          </a:p>
          <a:p>
            <a:r>
              <a:rPr lang="en-GB" dirty="0"/>
              <a:t>int main() {</a:t>
            </a:r>
          </a:p>
          <a:p>
            <a:r>
              <a:rPr lang="en-GB" dirty="0"/>
              <a:t>    cout &lt;&lt; "Hello, World!";</a:t>
            </a:r>
          </a:p>
          <a:p>
            <a:r>
              <a:rPr lang="en-GB" dirty="0"/>
              <a:t>    return 0;</a:t>
            </a:r>
          </a:p>
          <a:p>
            <a:r>
              <a:rPr lang="en-GB" dirty="0"/>
              <a:t>}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955232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9071C-B33C-43B3-0868-B2E217A95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3935"/>
            <a:ext cx="10515600" cy="5310130"/>
          </a:xfrm>
        </p:spPr>
        <p:txBody>
          <a:bodyPr>
            <a:normAutofit/>
          </a:bodyPr>
          <a:lstStyle/>
          <a:p>
            <a:r>
              <a:rPr lang="en-GB" dirty="0"/>
              <a:t>Every C++ program has the same skeleton - once you recognize the bones, reading new code gets much easier.</a:t>
            </a:r>
          </a:p>
          <a:p>
            <a:r>
              <a:rPr lang="en-GB" dirty="0"/>
              <a:t>#include &lt;iostream&gt; - a pre-processor directive that inserts the input/output stream library before compilation begins.</a:t>
            </a:r>
          </a:p>
          <a:p>
            <a:r>
              <a:rPr lang="en-GB" dirty="0"/>
              <a:t>using namespace std; - brings the Standard namespace into scope, so identifiers like cout and cin don't need the std:: prefix.</a:t>
            </a:r>
          </a:p>
          <a:p>
            <a:r>
              <a:rPr lang="en-GB" dirty="0"/>
              <a:t>cout (character output) is an object from the iostream library that sends data to the standard output stream (usually the console), used with the &lt;&lt; insertion operator.</a:t>
            </a:r>
          </a:p>
          <a:p>
            <a:r>
              <a:rPr lang="en-GB" dirty="0"/>
              <a:t>Think of main() like the front door of a house - no matter how many rooms (functions) a program has, execution always walks in through main() first.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609415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78DAF-1A66-F56D-1C00-34545D850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Analogy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2F8EA-114E-6D78-CB64-855133EAF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#include is like borrowing a specific toolbox from a shared warehouse before you start working. </a:t>
            </a:r>
          </a:p>
          <a:p>
            <a:r>
              <a:rPr lang="en-GB" dirty="0"/>
              <a:t>using namespace std is like being on a first-name basis with your co-workers instead of using full formal titles every time you address them. </a:t>
            </a:r>
          </a:p>
          <a:p>
            <a:r>
              <a:rPr lang="en-GB" dirty="0"/>
              <a:t>cout &lt;&lt; is like a mail chute - whatever you drop in on the right gets delivered to the console.</a:t>
            </a:r>
          </a:p>
          <a:p>
            <a:r>
              <a:rPr lang="en-GB" dirty="0"/>
              <a:t>Return 0 is the program's way of tapping the operating system on the shoulder and saying, 'All done, and nothing went wrong.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907348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CBC5C-6B47-2F93-5993-185DDDBEA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b="1" i="1" dirty="0"/>
              <a:t>Practice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8EF78-134F-8360-4B3B-F788FEF00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Modify the program to print "Hello, [Your Name]!" instead of "Hello, World!". </a:t>
            </a:r>
          </a:p>
          <a:p>
            <a:r>
              <a:rPr lang="en-GB" dirty="0"/>
              <a:t>Change the program so it prints two lines instead of one: "Hello, World!" followed by "Welcome to C++" on a new line. </a:t>
            </a:r>
          </a:p>
          <a:p>
            <a:r>
              <a:rPr lang="en-GB" dirty="0"/>
              <a:t>What happens if you delete the semicolon after cout &lt;&lt; "Hello, World!"? Try it, then explain the error message in your own words. </a:t>
            </a:r>
          </a:p>
          <a:p>
            <a:r>
              <a:rPr lang="en-GB" dirty="0"/>
              <a:t>What happens if you delete return 0; entirely? Does the program still compile and run? Why?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66864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FF004-0B4A-67FC-6285-FCC11D8AF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Line Breaks - \n vs. </a:t>
            </a:r>
            <a:r>
              <a:rPr lang="en-GB" b="1" i="1" dirty="0" err="1"/>
              <a:t>endl</a:t>
            </a:r>
            <a:endParaRPr lang="en-PK" b="1" i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5B95805-DCD7-6E82-0190-7E4784BEBB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7626318"/>
              </p:ext>
            </p:extLst>
          </p:nvPr>
        </p:nvGraphicFramePr>
        <p:xfrm>
          <a:off x="838200" y="1828800"/>
          <a:ext cx="10515600" cy="29260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41722829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4075936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594519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endl</a:t>
                      </a:r>
                      <a:endParaRPr lang="en-GB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6950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 it 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escape sequence (a character) that is part of the string itself.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manipulator (a function-like object) from iostream.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9143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 it does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Inserts a newline character only.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Inserts a newline and flushes the output buffer.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5815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Faster - does not flush the buffer.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Slightly slower - forces a buffer flush every time.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1324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&lt;iostream&gt;?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- it is a C-style escape sequence.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- it is part of the std namespace and requires &lt;iostream&gt;.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17423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713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43644-A563-DC00-288A-33098EEDF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User Input - CIN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65740-3FB4-9E67-966F-78985B158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/>
            <a:r>
              <a:rPr lang="en-GB" dirty="0"/>
              <a:t>If cout is your program talking, cin is your program listening - it reads whatever the user types.</a:t>
            </a:r>
          </a:p>
          <a:p>
            <a:pPr rtl="0"/>
            <a:r>
              <a:rPr lang="en-GB" b="1" dirty="0"/>
              <a:t>Formal:</a:t>
            </a:r>
            <a:r>
              <a:rPr lang="en-GB" dirty="0"/>
              <a:t> cin (character input) is a predefined object of the </a:t>
            </a:r>
            <a:r>
              <a:rPr lang="en-GB" dirty="0" err="1"/>
              <a:t>istream</a:t>
            </a:r>
            <a:r>
              <a:rPr lang="en-GB" dirty="0"/>
              <a:t> class, also from iostream, representing the standard input stream - normally the keyboard. The &gt;&gt; symbol is the extraction operator; it "extracts" a value from the input stream and stores it into a variable.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027467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9DD6D-6169-E300-AC96-D7882618F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b="1" i="1" dirty="0"/>
              <a:t>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7B5B7-2D7E-4692-7FBF-B48E69075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#include &lt;iostream&gt;</a:t>
            </a:r>
          </a:p>
          <a:p>
            <a:r>
              <a:rPr lang="en-GB" dirty="0"/>
              <a:t>using namespace std;</a:t>
            </a:r>
          </a:p>
          <a:p>
            <a:endParaRPr lang="en-GB" dirty="0"/>
          </a:p>
          <a:p>
            <a:r>
              <a:rPr lang="en-GB" dirty="0"/>
              <a:t>int main() {</a:t>
            </a:r>
          </a:p>
          <a:p>
            <a:r>
              <a:rPr lang="en-GB" dirty="0"/>
              <a:t>    int age;</a:t>
            </a:r>
          </a:p>
          <a:p>
            <a:r>
              <a:rPr lang="en-GB" dirty="0"/>
              <a:t>    cout &lt;&lt; "Enter your age: ";</a:t>
            </a:r>
          </a:p>
          <a:p>
            <a:r>
              <a:rPr lang="en-GB" dirty="0"/>
              <a:t>    cin &gt;&gt; age;</a:t>
            </a:r>
          </a:p>
          <a:p>
            <a:r>
              <a:rPr lang="en-GB" dirty="0"/>
              <a:t>    cout &lt;&lt; "You are " &lt;&lt; age &lt;&lt; " years old." &lt;&lt; </a:t>
            </a:r>
            <a:r>
              <a:rPr lang="en-GB" dirty="0" err="1"/>
              <a:t>endl</a:t>
            </a:r>
            <a:r>
              <a:rPr lang="en-GB" dirty="0"/>
              <a:t>;</a:t>
            </a:r>
          </a:p>
          <a:p>
            <a:r>
              <a:rPr lang="en-GB" dirty="0"/>
              <a:t>    return 0;</a:t>
            </a:r>
          </a:p>
          <a:p>
            <a:r>
              <a:rPr lang="en-GB" dirty="0"/>
              <a:t>}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361885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322C0-5EA0-EE6F-9D6C-469E41CC6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Chaining Multiple Inputs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04D3C-727F-43F6-DFB1-00E477AB6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int a, b;</a:t>
            </a:r>
          </a:p>
          <a:p>
            <a:r>
              <a:rPr lang="en-GB" dirty="0"/>
              <a:t>cout &lt;&lt; "Enter two numbers: ";</a:t>
            </a:r>
          </a:p>
          <a:p>
            <a:r>
              <a:rPr lang="en-GB" dirty="0"/>
              <a:t>cin &gt;&gt; a &gt;&gt; b;   // reads first number into a, second into b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301087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81861-91BD-6936-F7F1-3ED37419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BE60A-C225-EB72-AB0E-1FBA92A81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K" dirty="0"/>
              <a:t>&lt;&lt; = Insertion Operator</a:t>
            </a:r>
          </a:p>
          <a:p>
            <a:r>
              <a:rPr lang="en-PK" dirty="0"/>
              <a:t>&gt;&gt; = Extraction Operator</a:t>
            </a:r>
          </a:p>
          <a:p>
            <a:r>
              <a:rPr lang="en-PK" dirty="0"/>
              <a:t>= is assignment operator</a:t>
            </a:r>
          </a:p>
          <a:p>
            <a:r>
              <a:rPr lang="en-PK" dirty="0"/>
              <a:t>; semicolon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25584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A48A1-B22C-97EA-E823-F5DCABA8B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C9833-A759-9A3E-8A6C-F04F2690E5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K" dirty="0"/>
              <a:t>4th Lab</a:t>
            </a:r>
          </a:p>
        </p:txBody>
      </p:sp>
    </p:spTree>
    <p:extLst>
      <p:ext uri="{BB962C8B-B14F-4D97-AF65-F5344CB8AC3E}">
        <p14:creationId xmlns:p14="http://schemas.microsoft.com/office/powerpoint/2010/main" val="1907936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29BC9-14BA-2038-17A9-929DB8835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What is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FE0AD-3B32-3291-9F98-B7EB7B646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/>
            <a:r>
              <a:rPr lang="en-GB" dirty="0"/>
              <a:t>A variable is a named box in memory where your program stores a value it might need to use or change later.</a:t>
            </a:r>
          </a:p>
          <a:p>
            <a:pPr rtl="0"/>
            <a:r>
              <a:rPr lang="en-GB" b="1" dirty="0"/>
              <a:t>Formal:</a:t>
            </a:r>
            <a:r>
              <a:rPr lang="en-GB" dirty="0"/>
              <a:t> A variable is a named storage location in memory, associated with a specific data type, whose value can be read or modified during program execution. Declaring a variable tells the compiler how much memory to reserve and how to interpret the bits stored there.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020716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38E21-D69E-2997-A37E-3C1E2742D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297C8-CB93-862D-67C4-343F3197F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int age = 20;</a:t>
            </a:r>
          </a:p>
          <a:p>
            <a:r>
              <a:rPr lang="en-GB" dirty="0"/>
              <a:t>double price = 9.99;</a:t>
            </a:r>
          </a:p>
          <a:p>
            <a:r>
              <a:rPr lang="en-GB" dirty="0"/>
              <a:t>char grade = ‘A’;</a:t>
            </a:r>
          </a:p>
          <a:p>
            <a:endParaRPr lang="en-GB" dirty="0"/>
          </a:p>
          <a:p>
            <a:r>
              <a:rPr lang="en-GB" dirty="0"/>
              <a:t>int   age   =   20  ;</a:t>
            </a:r>
          </a:p>
          <a:p>
            <a:r>
              <a:rPr lang="en-GB" dirty="0"/>
              <a:t> ↑      ↑        ↑</a:t>
            </a:r>
          </a:p>
          <a:p>
            <a:r>
              <a:rPr lang="en-GB" dirty="0"/>
              <a:t>type  name    value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550222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428F8-2383-A016-D6F4-70FED30C9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Types and Their Sizes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54EF9-D618-96E5-89FA-87E8485AB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Different kinds of data need different amounts of memory - a single character needs far less room than a large decimal number.</a:t>
            </a:r>
          </a:p>
          <a:p>
            <a:r>
              <a:rPr lang="en-GB" b="1" dirty="0"/>
              <a:t>Formal:</a:t>
            </a:r>
            <a:r>
              <a:rPr lang="en-GB" dirty="0"/>
              <a:t> C++ is a statically typed language - every variable's type is fixed at declaration and determines both the memory allocated and the range of values it can hold. Sizes below are the </a:t>
            </a:r>
            <a:r>
              <a:rPr lang="en-GB" i="1" dirty="0"/>
              <a:t>typical</a:t>
            </a:r>
            <a:r>
              <a:rPr lang="en-GB" dirty="0"/>
              <a:t> values on most modern 32/64-bit systems (technically compiler/platform-dependent, but these are standard on Dev C++ / GNU G++).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6220752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CBB2CA3-BF96-80EC-BABB-D0EDF18C92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0605415"/>
              </p:ext>
            </p:extLst>
          </p:nvPr>
        </p:nvGraphicFramePr>
        <p:xfrm>
          <a:off x="1022732" y="168007"/>
          <a:ext cx="10146536" cy="652198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09312">
                  <a:extLst>
                    <a:ext uri="{9D8B030D-6E8A-4147-A177-3AD203B41FA5}">
                      <a16:colId xmlns:a16="http://schemas.microsoft.com/office/drawing/2014/main" val="3294008357"/>
                    </a:ext>
                  </a:extLst>
                </a:gridCol>
                <a:gridCol w="1740665">
                  <a:extLst>
                    <a:ext uri="{9D8B030D-6E8A-4147-A177-3AD203B41FA5}">
                      <a16:colId xmlns:a16="http://schemas.microsoft.com/office/drawing/2014/main" val="3592051915"/>
                    </a:ext>
                  </a:extLst>
                </a:gridCol>
                <a:gridCol w="2577947">
                  <a:extLst>
                    <a:ext uri="{9D8B030D-6E8A-4147-A177-3AD203B41FA5}">
                      <a16:colId xmlns:a16="http://schemas.microsoft.com/office/drawing/2014/main" val="1162025883"/>
                    </a:ext>
                  </a:extLst>
                </a:gridCol>
                <a:gridCol w="4318612">
                  <a:extLst>
                    <a:ext uri="{9D8B030D-6E8A-4147-A177-3AD203B41FA5}">
                      <a16:colId xmlns:a16="http://schemas.microsoft.com/office/drawing/2014/main" val="636873315"/>
                    </a:ext>
                  </a:extLst>
                </a:gridCol>
              </a:tblGrid>
              <a:tr h="441260">
                <a:tc>
                  <a:txBody>
                    <a:bodyPr/>
                    <a:lstStyle/>
                    <a:p>
                      <a:pPr algn="ctr"/>
                      <a:r>
                        <a:rPr lang="en-GB" sz="1500" b="1"/>
                        <a:t>Data Type</a:t>
                      </a:r>
                      <a:endParaRPr lang="en-GB" sz="1500"/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/>
                        <a:t>Size (Typical)</a:t>
                      </a:r>
                      <a:endParaRPr lang="en-GB" sz="1500"/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/>
                        <a:t>Range (Approx.)</a:t>
                      </a:r>
                      <a:endParaRPr lang="en-GB" sz="1500"/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b="1"/>
                        <a:t>Example</a:t>
                      </a:r>
                      <a:endParaRPr lang="en-GB" sz="1500"/>
                    </a:p>
                  </a:txBody>
                  <a:tcPr marL="73751" marR="73751" marT="36876" marB="36876" anchor="ctr"/>
                </a:tc>
                <a:extLst>
                  <a:ext uri="{0D108BD9-81ED-4DB2-BD59-A6C34878D82A}">
                    <a16:rowId xmlns:a16="http://schemas.microsoft.com/office/drawing/2014/main" val="815156055"/>
                  </a:ext>
                </a:extLst>
              </a:tr>
              <a:tr h="441260">
                <a:tc>
                  <a:txBody>
                    <a:bodyPr/>
                    <a:lstStyle/>
                    <a:p>
                      <a:pPr algn="ctr"/>
                      <a:r>
                        <a:rPr lang="en-GB" sz="1500"/>
                        <a:t>char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/>
                        <a:t>1 byte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/>
                        <a:t>-128 to 127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/>
                        <a:t>char grade = 'A';</a:t>
                      </a:r>
                    </a:p>
                  </a:txBody>
                  <a:tcPr marL="73751" marR="73751" marT="36876" marB="36876" anchor="ctr"/>
                </a:tc>
                <a:extLst>
                  <a:ext uri="{0D108BD9-81ED-4DB2-BD59-A6C34878D82A}">
                    <a16:rowId xmlns:a16="http://schemas.microsoft.com/office/drawing/2014/main" val="725657880"/>
                  </a:ext>
                </a:extLst>
              </a:tr>
              <a:tr h="441260">
                <a:tc>
                  <a:txBody>
                    <a:bodyPr/>
                    <a:lstStyle/>
                    <a:p>
                      <a:pPr algn="ctr"/>
                      <a:r>
                        <a:rPr lang="en-GB" sz="1500"/>
                        <a:t>bool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/>
                        <a:t>1 byte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/>
                        <a:t>true or false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/>
                        <a:t>bool isPassed = true;</a:t>
                      </a:r>
                    </a:p>
                  </a:txBody>
                  <a:tcPr marL="73751" marR="73751" marT="36876" marB="36876" anchor="ctr"/>
                </a:tc>
                <a:extLst>
                  <a:ext uri="{0D108BD9-81ED-4DB2-BD59-A6C34878D82A}">
                    <a16:rowId xmlns:a16="http://schemas.microsoft.com/office/drawing/2014/main" val="3640022071"/>
                  </a:ext>
                </a:extLst>
              </a:tr>
              <a:tr h="441260">
                <a:tc>
                  <a:txBody>
                    <a:bodyPr/>
                    <a:lstStyle/>
                    <a:p>
                      <a:pPr algn="ctr"/>
                      <a:r>
                        <a:rPr lang="en-GB" sz="1500"/>
                        <a:t>short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/>
                        <a:t>2 bytes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/>
                        <a:t>-32,768 to 32,767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/>
                        <a:t>short year = 2026;</a:t>
                      </a:r>
                    </a:p>
                  </a:txBody>
                  <a:tcPr marL="73751" marR="73751" marT="36876" marB="36876" anchor="ctr"/>
                </a:tc>
                <a:extLst>
                  <a:ext uri="{0D108BD9-81ED-4DB2-BD59-A6C34878D82A}">
                    <a16:rowId xmlns:a16="http://schemas.microsoft.com/office/drawing/2014/main" val="986188547"/>
                  </a:ext>
                </a:extLst>
              </a:tr>
              <a:tr h="441260">
                <a:tc>
                  <a:txBody>
                    <a:bodyPr/>
                    <a:lstStyle/>
                    <a:p>
                      <a:pPr algn="ctr"/>
                      <a:r>
                        <a:rPr lang="en-GB" sz="1500"/>
                        <a:t>int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/>
                        <a:t>4 bytes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/>
                        <a:t>~-2.1 billion to 2.1 billion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/>
                        <a:t>int age = 20;</a:t>
                      </a:r>
                    </a:p>
                  </a:txBody>
                  <a:tcPr marL="73751" marR="73751" marT="36876" marB="36876" anchor="ctr"/>
                </a:tc>
                <a:extLst>
                  <a:ext uri="{0D108BD9-81ED-4DB2-BD59-A6C34878D82A}">
                    <a16:rowId xmlns:a16="http://schemas.microsoft.com/office/drawing/2014/main" val="749520191"/>
                  </a:ext>
                </a:extLst>
              </a:tr>
              <a:tr h="441260">
                <a:tc>
                  <a:txBody>
                    <a:bodyPr/>
                    <a:lstStyle/>
                    <a:p>
                      <a:pPr algn="ctr"/>
                      <a:r>
                        <a:rPr lang="en-GB" sz="1500"/>
                        <a:t>unsigned int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/>
                        <a:t>4 bytes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/>
                        <a:t>0 to ~4.2 billion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/>
                        <a:t>unsigned int count = 100;</a:t>
                      </a:r>
                    </a:p>
                  </a:txBody>
                  <a:tcPr marL="73751" marR="73751" marT="36876" marB="36876" anchor="ctr"/>
                </a:tc>
                <a:extLst>
                  <a:ext uri="{0D108BD9-81ED-4DB2-BD59-A6C34878D82A}">
                    <a16:rowId xmlns:a16="http://schemas.microsoft.com/office/drawing/2014/main" val="969585276"/>
                  </a:ext>
                </a:extLst>
              </a:tr>
              <a:tr h="774885">
                <a:tc>
                  <a:txBody>
                    <a:bodyPr/>
                    <a:lstStyle/>
                    <a:p>
                      <a:pPr algn="ctr"/>
                      <a:r>
                        <a:rPr lang="en-GB" sz="1500"/>
                        <a:t>long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/>
                        <a:t>4 or 8 bytes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/>
                        <a:t>Larger than int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/>
                        <a:t>long population = 1400000000;</a:t>
                      </a:r>
                    </a:p>
                  </a:txBody>
                  <a:tcPr marL="73751" marR="73751" marT="36876" marB="36876" anchor="ctr"/>
                </a:tc>
                <a:extLst>
                  <a:ext uri="{0D108BD9-81ED-4DB2-BD59-A6C34878D82A}">
                    <a16:rowId xmlns:a16="http://schemas.microsoft.com/office/drawing/2014/main" val="2042580611"/>
                  </a:ext>
                </a:extLst>
              </a:tr>
              <a:tr h="774885">
                <a:tc>
                  <a:txBody>
                    <a:bodyPr/>
                    <a:lstStyle/>
                    <a:p>
                      <a:pPr algn="ctr"/>
                      <a:r>
                        <a:rPr lang="en-GB" sz="1500"/>
                        <a:t>long long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/>
                        <a:t>8 bytes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/>
                        <a:t>Very large integers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/>
                        <a:t>long long bigNum = 9000000000;</a:t>
                      </a:r>
                    </a:p>
                  </a:txBody>
                  <a:tcPr marL="73751" marR="73751" marT="36876" marB="36876" anchor="ctr"/>
                </a:tc>
                <a:extLst>
                  <a:ext uri="{0D108BD9-81ED-4DB2-BD59-A6C34878D82A}">
                    <a16:rowId xmlns:a16="http://schemas.microsoft.com/office/drawing/2014/main" val="1967435718"/>
                  </a:ext>
                </a:extLst>
              </a:tr>
              <a:tr h="774885">
                <a:tc>
                  <a:txBody>
                    <a:bodyPr/>
                    <a:lstStyle/>
                    <a:p>
                      <a:pPr algn="ctr"/>
                      <a:r>
                        <a:rPr lang="en-GB" sz="1500"/>
                        <a:t>float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/>
                        <a:t>4 bytes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/>
                        <a:t>~7 decimal digits precision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/>
                        <a:t>float price = 9.99;</a:t>
                      </a:r>
                    </a:p>
                  </a:txBody>
                  <a:tcPr marL="73751" marR="73751" marT="36876" marB="36876" anchor="ctr"/>
                </a:tc>
                <a:extLst>
                  <a:ext uri="{0D108BD9-81ED-4DB2-BD59-A6C34878D82A}">
                    <a16:rowId xmlns:a16="http://schemas.microsoft.com/office/drawing/2014/main" val="4127378694"/>
                  </a:ext>
                </a:extLst>
              </a:tr>
              <a:tr h="774885">
                <a:tc>
                  <a:txBody>
                    <a:bodyPr/>
                    <a:lstStyle/>
                    <a:p>
                      <a:pPr algn="ctr"/>
                      <a:r>
                        <a:rPr lang="en-GB" sz="1500"/>
                        <a:t>double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/>
                        <a:t>8 bytes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/>
                        <a:t>~15 decimal digits precision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/>
                        <a:t>double pi = 3.14159265;</a:t>
                      </a:r>
                    </a:p>
                  </a:txBody>
                  <a:tcPr marL="73751" marR="73751" marT="36876" marB="36876" anchor="ctr"/>
                </a:tc>
                <a:extLst>
                  <a:ext uri="{0D108BD9-81ED-4DB2-BD59-A6C34878D82A}">
                    <a16:rowId xmlns:a16="http://schemas.microsoft.com/office/drawing/2014/main" val="1736637411"/>
                  </a:ext>
                </a:extLst>
              </a:tr>
              <a:tr h="774885">
                <a:tc>
                  <a:txBody>
                    <a:bodyPr/>
                    <a:lstStyle/>
                    <a:p>
                      <a:pPr algn="ctr"/>
                      <a:r>
                        <a:rPr lang="en-GB" sz="1500"/>
                        <a:t>long double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/>
                        <a:t>8, 12, or 16 bytes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/>
                        <a:t>Extended precision</a:t>
                      </a: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500" dirty="0"/>
                        <a:t>long double x = 3.14159265358979L;</a:t>
                      </a:r>
                    </a:p>
                  </a:txBody>
                  <a:tcPr marL="73751" marR="73751" marT="36876" marB="36876" anchor="ctr"/>
                </a:tc>
                <a:extLst>
                  <a:ext uri="{0D108BD9-81ED-4DB2-BD59-A6C34878D82A}">
                    <a16:rowId xmlns:a16="http://schemas.microsoft.com/office/drawing/2014/main" val="2301177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88368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1FF16-7DE1-7C2E-93B8-EFBD3CAEA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Why Two Decimal Types?</a:t>
            </a:r>
            <a:endParaRPr lang="en-PK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0AA0A-87B2-4174-2D4F-EBEE9416D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rtl="0"/>
            <a:r>
              <a:rPr lang="en-GB" dirty="0"/>
              <a:t>Both store decimal numbers, but double is more precise and is the default choice in modern C++.</a:t>
            </a:r>
          </a:p>
          <a:p>
            <a:pPr rtl="0"/>
            <a:r>
              <a:rPr lang="en-GB" dirty="0"/>
              <a:t>Formal: float is single-precision (4 bytes, ~7 significant digits); double is double-precision (8 bytes, ~15 significant digits). The extra bytes in double store more precision, not necessarily a larger range.</a:t>
            </a:r>
          </a:p>
          <a:p>
            <a:r>
              <a:rPr lang="en-GB" dirty="0"/>
              <a:t>float a = 3.14159265358979; // gets truncated to ~7 digits of precision </a:t>
            </a:r>
          </a:p>
          <a:p>
            <a:r>
              <a:rPr lang="en-GB" dirty="0"/>
              <a:t>double b = 3.14159265358979; // retains far more precision</a:t>
            </a:r>
          </a:p>
          <a:p>
            <a:pPr rtl="0"/>
            <a:r>
              <a:rPr lang="en-GB" dirty="0"/>
              <a:t>Practical guidance: Use double by default for decimal values in coursework - it's the standard choice in real-world C++ code. float is mainly used when memory is tight (e.g., large arrays, embedded systems, graphics).</a:t>
            </a:r>
          </a:p>
          <a:p>
            <a:pPr rtl="0"/>
            <a:r>
              <a:rPr lang="en-GB" dirty="0"/>
              <a:t>Common beginner error: Writing float x = 3.14; without the f suffix - this technically stores a double value and narrows it into a float, which can trigger a compiler warning.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201692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B9599-A23F-C4E0-F4B0-96D11F0C4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K" dirty="0"/>
              <a:t>Practice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45483-2015-2FB8-9167-0D723A7E4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Write a C++ program to perform input/output of all basic data types.</a:t>
            </a:r>
          </a:p>
          <a:p>
            <a:r>
              <a:rPr lang="en-GB" dirty="0"/>
              <a:t>Write a C++ program to enter two numbers and find their sum.</a:t>
            </a:r>
          </a:p>
          <a:p>
            <a:r>
              <a:rPr lang="en-GB" dirty="0"/>
              <a:t>Write a C++ program to enter two numbers and perform all arithmetic operations.</a:t>
            </a:r>
          </a:p>
          <a:p>
            <a:r>
              <a:rPr lang="en-GB" dirty="0"/>
              <a:t>Write a C++ program to enter length and breadth of a rectangle and find its perimeter.</a:t>
            </a:r>
          </a:p>
          <a:p>
            <a:r>
              <a:rPr lang="en-GB" dirty="0"/>
              <a:t>Write a C++ program to enter length and breadth of a rectangle and find its area.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791742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737F4-0E24-92C2-3AB6-A1E7A362B039}"/>
              </a:ext>
            </a:extLst>
          </p:cNvPr>
          <p:cNvSpPr txBox="1">
            <a:spLocks/>
          </p:cNvSpPr>
          <p:nvPr/>
        </p:nvSpPr>
        <p:spPr>
          <a:xfrm>
            <a:off x="838200" y="2864385"/>
            <a:ext cx="10515600" cy="15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6000" dirty="0">
                <a:latin typeface="Times New Roman" panose="02020603050405020304" pitchFamily="18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9938269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764B33-882A-32B8-7F73-E22BD1AF9CCC}"/>
              </a:ext>
            </a:extLst>
          </p:cNvPr>
          <p:cNvSpPr txBox="1">
            <a:spLocks/>
          </p:cNvSpPr>
          <p:nvPr/>
        </p:nvSpPr>
        <p:spPr>
          <a:xfrm>
            <a:off x="838200" y="2864385"/>
            <a:ext cx="10515600" cy="15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6000" dirty="0">
                <a:latin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6262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1289</Words>
  <Application>Microsoft Macintosh PowerPoint</Application>
  <PresentationFormat>Widescreen</PresentationFormat>
  <Paragraphs>145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Times New Roman</vt:lpstr>
      <vt:lpstr>Office Theme</vt:lpstr>
      <vt:lpstr>Programming Fundamentals</vt:lpstr>
      <vt:lpstr>Installation of Dev C++</vt:lpstr>
      <vt:lpstr>Anatomy of First Program</vt:lpstr>
      <vt:lpstr>PowerPoint Presentation</vt:lpstr>
      <vt:lpstr>Analogy</vt:lpstr>
      <vt:lpstr>Practice Question</vt:lpstr>
      <vt:lpstr>Line Breaks - \n vs. endl</vt:lpstr>
      <vt:lpstr>User Input - CIN</vt:lpstr>
      <vt:lpstr>Code</vt:lpstr>
      <vt:lpstr>Chaining Multiple Inputs</vt:lpstr>
      <vt:lpstr>Operators</vt:lpstr>
      <vt:lpstr>Variables</vt:lpstr>
      <vt:lpstr>What is Variable</vt:lpstr>
      <vt:lpstr>Example</vt:lpstr>
      <vt:lpstr>Data Types and Their Sizes</vt:lpstr>
      <vt:lpstr>PowerPoint Presentation</vt:lpstr>
      <vt:lpstr>Why Two Decimal Types?</vt:lpstr>
      <vt:lpstr>Practice Questions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</dc:title>
  <dc:creator>Microsoft Office User</dc:creator>
  <cp:lastModifiedBy>Microsoft Office User</cp:lastModifiedBy>
  <cp:revision>3</cp:revision>
  <dcterms:created xsi:type="dcterms:W3CDTF">2026-07-17T16:00:13Z</dcterms:created>
  <dcterms:modified xsi:type="dcterms:W3CDTF">2026-09-12T06:48:02Z</dcterms:modified>
</cp:coreProperties>
</file>